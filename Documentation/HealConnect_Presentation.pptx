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eec0192c1_6_10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ceec0192c1_6_10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ceec0192c1_6_10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eec0192c1_6_12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ceec0192c1_6_12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ceec0192c1_6_12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eec0192c1_6_15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ceec0192c1_6_15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ceec0192c1_6_15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eec0192c1_6_17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ceec0192c1_6_17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ceec0192c1_6_17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14.png"/><Relationship Id="rId6" Type="http://schemas.openxmlformats.org/officeDocument/2006/relationships/image" Target="../media/image7.png"/><Relationship Id="rId7" Type="http://schemas.openxmlformats.org/officeDocument/2006/relationships/image" Target="../media/image5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6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311700" y="2834125"/>
            <a:ext cx="8520600" cy="10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lang="en-GB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HealConnect –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lang="en-GB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Online Physiotherapy Platform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36538"/>
              <a:buNone/>
            </a:pPr>
            <a:r>
              <a:rPr b="1" lang="en-GB" sz="832">
                <a:solidFill>
                  <a:schemeClr val="lt1"/>
                </a:solidFill>
              </a:rPr>
              <a:t>Ayush Kumar Singh</a:t>
            </a:r>
            <a:endParaRPr b="1" sz="832">
              <a:solidFill>
                <a:schemeClr val="lt1"/>
              </a:solidFill>
            </a:endParaRPr>
          </a:p>
        </p:txBody>
      </p:sp>
      <p:pic>
        <p:nvPicPr>
          <p:cNvPr id="56" name="Google Shape;56;p14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311700" y="1152475"/>
            <a:ext cx="8520600" cy="3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Problem Statement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Our Solution — Multi-Page Web App Design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Working: Methods &amp; Implementation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Conclusion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3" name="Google Shape;63;p15" title="images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37160"/>
            <a:ext cx="173736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6"/>
          <p:cNvSpPr/>
          <p:nvPr/>
        </p:nvSpPr>
        <p:spPr>
          <a:xfrm>
            <a:off x="2103120" y="137160"/>
            <a:ext cx="6400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274320" y="914400"/>
            <a:ext cx="4114800" cy="3474600"/>
          </a:xfrm>
          <a:prstGeom prst="rect">
            <a:avLst/>
          </a:prstGeom>
          <a:solidFill>
            <a:srgbClr val="F5E8ED"/>
          </a:solidFill>
          <a:ln cap="flat" cmpd="sng" w="12700">
            <a:solidFill>
              <a:srgbClr val="E8C5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365760" y="960120"/>
            <a:ext cx="393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1B45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8C1B45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411480" y="1371600"/>
            <a:ext cx="38862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Char char="•"/>
            </a:pPr>
            <a:r>
              <a:rPr b="0" i="0" lang="en-GB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No centralised platform for remote physiotherapy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Char char="•"/>
            </a:pPr>
            <a:r>
              <a:rPr b="0" i="0" lang="en-GB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High travel cost &amp; limited specialist access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Char char="•"/>
            </a:pPr>
            <a:r>
              <a:rPr b="0" i="0" lang="en-GB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No progress tracking or exercise guidance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Char char="•"/>
            </a:pPr>
            <a:r>
              <a:rPr b="0" i="0" lang="en-GB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Difficult appointment booking &amp; reminders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Char char="•"/>
            </a:pPr>
            <a:r>
              <a:rPr b="0" i="0" lang="en-GB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Poor mobile experience on existing sites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4663440" y="960120"/>
            <a:ext cx="4114800" cy="10515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/>
          <p:nvPr/>
        </p:nvSpPr>
        <p:spPr>
          <a:xfrm>
            <a:off x="5257800" y="1033272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Access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5257800" y="1353312"/>
            <a:ext cx="3383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0DF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F5D0DF"/>
                </a:solidFill>
                <a:latin typeface="Calibri"/>
                <a:ea typeface="Calibri"/>
                <a:cs typeface="Calibri"/>
                <a:sym typeface="Calibri"/>
              </a:rPr>
              <a:t>Specialists unavailable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0DF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F5D0DF"/>
                </a:solidFill>
                <a:latin typeface="Calibri"/>
                <a:ea typeface="Calibri"/>
                <a:cs typeface="Calibri"/>
                <a:sym typeface="Calibri"/>
              </a:rPr>
              <a:t>in most regions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4663440" y="2148840"/>
            <a:ext cx="4114800" cy="10515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0600" y="2423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/>
          <p:nvPr/>
        </p:nvSpPr>
        <p:spPr>
          <a:xfrm>
            <a:off x="5257800" y="2221992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Tracking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5257800" y="2542032"/>
            <a:ext cx="3383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0DF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F5D0DF"/>
                </a:solidFill>
                <a:latin typeface="Calibri"/>
                <a:ea typeface="Calibri"/>
                <a:cs typeface="Calibri"/>
                <a:sym typeface="Calibri"/>
              </a:rPr>
              <a:t>Recovery progress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0DF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F5D0DF"/>
                </a:solidFill>
                <a:latin typeface="Calibri"/>
                <a:ea typeface="Calibri"/>
                <a:cs typeface="Calibri"/>
                <a:sym typeface="Calibri"/>
              </a:rPr>
              <a:t>not logged anywhere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4663440" y="3337560"/>
            <a:ext cx="4114800" cy="10515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" name="Google Shape;8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00600" y="36118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/>
          <p:nvPr/>
        </p:nvSpPr>
        <p:spPr>
          <a:xfrm>
            <a:off x="5257800" y="3410712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Poor UX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5257800" y="3730752"/>
            <a:ext cx="3383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0DF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F5D0DF"/>
                </a:solidFill>
                <a:latin typeface="Calibri"/>
                <a:ea typeface="Calibri"/>
                <a:cs typeface="Calibri"/>
                <a:sym typeface="Calibri"/>
              </a:rPr>
              <a:t>Not responsive 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0DF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F5D0DF"/>
                </a:solidFill>
                <a:latin typeface="Calibri"/>
                <a:ea typeface="Calibri"/>
                <a:cs typeface="Calibri"/>
                <a:sym typeface="Calibri"/>
              </a:rPr>
              <a:t>mobile devices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0" y="4892040"/>
            <a:ext cx="9144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ITM Skills University | B.Tech CSE 2025-29 | Case Study 88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37160"/>
            <a:ext cx="173736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/>
          <p:nvPr/>
        </p:nvSpPr>
        <p:spPr>
          <a:xfrm>
            <a:off x="2103120" y="137160"/>
            <a:ext cx="6675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Solution — Multi-Page Web App Design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256032" y="914400"/>
            <a:ext cx="4206300" cy="16917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912" y="14630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1033272" y="1078992"/>
            <a:ext cx="329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GB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index.html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1033272" y="1508760"/>
            <a:ext cx="3291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Landing page: hero, therapist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cards, stats &amp; CTA banner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3547872" y="914400"/>
            <a:ext cx="914400" cy="292500"/>
          </a:xfrm>
          <a:prstGeom prst="rect">
            <a:avLst/>
          </a:prstGeom>
          <a:solidFill>
            <a:srgbClr val="6B1234"/>
          </a:solidFill>
          <a:ln cap="flat" cmpd="sng" w="12700">
            <a:solidFill>
              <a:srgbClr val="6B12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3547872" y="914400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C5D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8C5D3"/>
                </a:solidFill>
                <a:latin typeface="Calibri"/>
                <a:ea typeface="Calibri"/>
                <a:cs typeface="Calibri"/>
                <a:sym typeface="Calibri"/>
              </a:rPr>
              <a:t>page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63440" y="914400"/>
            <a:ext cx="4206300" cy="16917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6320" y="14630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/>
          <p:nvPr/>
        </p:nvSpPr>
        <p:spPr>
          <a:xfrm>
            <a:off x="5440680" y="1078992"/>
            <a:ext cx="329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GB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library.html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5440680" y="1508760"/>
            <a:ext cx="3291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Searchable exercise library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with category filter &amp; search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7955280" y="914400"/>
            <a:ext cx="914400" cy="292500"/>
          </a:xfrm>
          <a:prstGeom prst="rect">
            <a:avLst/>
          </a:prstGeom>
          <a:solidFill>
            <a:srgbClr val="6B1234"/>
          </a:solidFill>
          <a:ln cap="flat" cmpd="sng" w="12700">
            <a:solidFill>
              <a:srgbClr val="6B12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7955280" y="914400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C5D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8C5D3"/>
                </a:solidFill>
                <a:latin typeface="Calibri"/>
                <a:ea typeface="Calibri"/>
                <a:cs typeface="Calibri"/>
                <a:sym typeface="Calibri"/>
              </a:rPr>
              <a:t>page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256032" y="2788920"/>
            <a:ext cx="4206300" cy="16917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912" y="33375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/>
          <p:nvPr/>
        </p:nvSpPr>
        <p:spPr>
          <a:xfrm>
            <a:off x="1033272" y="2953512"/>
            <a:ext cx="329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GB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progress.html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1033272" y="3383280"/>
            <a:ext cx="3291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Patient dashboard; sessions,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notes &amp; progress tracking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3547872" y="2788920"/>
            <a:ext cx="914400" cy="292500"/>
          </a:xfrm>
          <a:prstGeom prst="rect">
            <a:avLst/>
          </a:prstGeom>
          <a:solidFill>
            <a:srgbClr val="6B1234"/>
          </a:solidFill>
          <a:ln cap="flat" cmpd="sng" w="12700">
            <a:solidFill>
              <a:srgbClr val="6B12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3547872" y="2788920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C5D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8C5D3"/>
                </a:solidFill>
                <a:latin typeface="Calibri"/>
                <a:ea typeface="Calibri"/>
                <a:cs typeface="Calibri"/>
                <a:sym typeface="Calibri"/>
              </a:rPr>
              <a:t>page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4663440" y="2788920"/>
            <a:ext cx="4206300" cy="16917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46320" y="33375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/>
          <p:nvPr/>
        </p:nvSpPr>
        <p:spPr>
          <a:xfrm>
            <a:off x="5440680" y="2953512"/>
            <a:ext cx="329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GB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book.html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5440680" y="3383280"/>
            <a:ext cx="3291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Booking form; therapist pick,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time slot &amp; live summary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7955280" y="2788920"/>
            <a:ext cx="914400" cy="292500"/>
          </a:xfrm>
          <a:prstGeom prst="rect">
            <a:avLst/>
          </a:prstGeom>
          <a:solidFill>
            <a:srgbClr val="6B1234"/>
          </a:solidFill>
          <a:ln cap="flat" cmpd="sng" w="12700">
            <a:solidFill>
              <a:srgbClr val="6B12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7955280" y="2788920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C5D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8C5D3"/>
                </a:solidFill>
                <a:latin typeface="Calibri"/>
                <a:ea typeface="Calibri"/>
                <a:cs typeface="Calibri"/>
                <a:sym typeface="Calibri"/>
              </a:rPr>
              <a:t>page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0" y="4892040"/>
            <a:ext cx="9144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ITM Skills University | B.Tech CSE 2025-29 | Case Study 88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37160"/>
            <a:ext cx="173736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/>
          <p:nvPr/>
        </p:nvSpPr>
        <p:spPr>
          <a:xfrm>
            <a:off x="2103120" y="137160"/>
            <a:ext cx="6675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Working: Methods &amp; Implementation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256032" y="914400"/>
            <a:ext cx="4114800" cy="19203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347472" y="960120"/>
            <a:ext cx="393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1B45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8C1B45"/>
                </a:solidFill>
                <a:latin typeface="Calibri"/>
                <a:ea typeface="Calibri"/>
                <a:cs typeface="Calibri"/>
                <a:sym typeface="Calibri"/>
              </a:rPr>
              <a:t>CSS Design System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347472" y="1316736"/>
            <a:ext cx="3931800" cy="549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347472" y="1417320"/>
            <a:ext cx="39318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Palette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 xml:space="preserve"> — </a:t>
            </a:r>
            <a:r>
              <a:rPr lang="en-GB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Crimson</a:t>
            </a:r>
            <a:r>
              <a:rPr b="0" i="0" lang="en-GB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 xml:space="preserve"> + White + Charcoal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Font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 xml:space="preserve"> = Inter (Google Fonts)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Layout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 xml:space="preserve"> = CSS Grid + Flexbox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256032" y="2926080"/>
            <a:ext cx="4114800" cy="1691700"/>
          </a:xfrm>
          <a:prstGeom prst="rect">
            <a:avLst/>
          </a:prstGeom>
          <a:solidFill>
            <a:srgbClr val="F5E8ED"/>
          </a:solidFill>
          <a:ln cap="flat" cmpd="sng" w="12700">
            <a:solidFill>
              <a:srgbClr val="E8C5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347472" y="2971800"/>
            <a:ext cx="393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1B45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8C1B45"/>
                </a:solidFill>
                <a:latin typeface="Calibri"/>
                <a:ea typeface="Calibri"/>
                <a:cs typeface="Calibri"/>
                <a:sym typeface="Calibri"/>
              </a:rPr>
              <a:t>JS: sessionStorage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347472" y="3364992"/>
            <a:ext cx="3886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Notes saved to sessionStorage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Sessions marked done → count updates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State persists within browser session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4663440" y="914400"/>
            <a:ext cx="4206300" cy="16917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4754880" y="960120"/>
            <a:ext cx="4023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JS Concepts Applied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4754880" y="1371600"/>
            <a:ext cx="40233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150"/>
              <a:buFont typeface="Calibri"/>
              <a:buChar char="•"/>
            </a:pPr>
            <a:r>
              <a:rPr b="0" i="0" lang="en-GB" sz="115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IntersectionObserver — scroll animations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150"/>
              <a:buFont typeface="Calibri"/>
              <a:buChar char="•"/>
            </a:pPr>
            <a:r>
              <a:rPr b="0" i="0" lang="en-GB" sz="115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Event delegation — time slot &amp; therapist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150"/>
              <a:buFont typeface="Calibri"/>
              <a:buChar char="•"/>
            </a:pPr>
            <a:r>
              <a:rPr b="0" i="0" lang="en-GB" sz="115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DOM manipulation — live summary updates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150"/>
              <a:buFont typeface="Calibri"/>
              <a:buChar char="•"/>
            </a:pPr>
            <a:r>
              <a:rPr b="0" i="0" lang="en-GB" sz="115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CSS variables for full design system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4663440" y="2743200"/>
            <a:ext cx="4206300" cy="18744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4754880" y="2788920"/>
            <a:ext cx="4023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1B45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8C1B45"/>
                </a:solidFill>
                <a:latin typeface="Calibri"/>
                <a:ea typeface="Calibri"/>
                <a:cs typeface="Calibri"/>
                <a:sym typeface="Calibri"/>
              </a:rPr>
              <a:t>Form Validation + Tech Stack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4754880" y="3200400"/>
            <a:ext cx="39777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Calibri"/>
              <a:buChar char="•"/>
            </a:pPr>
            <a:r>
              <a:rPr b="0" i="0" lang="en-GB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validateForm() — regex + required checks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Calibri"/>
              <a:buChar char="•"/>
            </a:pPr>
            <a:r>
              <a:rPr b="0" i="0" lang="en-GB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Languages: HTML5, CSS3, JavaScript ES6+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Calibri"/>
              <a:buChar char="•"/>
            </a:pPr>
            <a:r>
              <a:rPr b="0" i="0" lang="en-GB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No frameworks — pure vanilla implementation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Calibri"/>
              <a:buChar char="•"/>
            </a:pPr>
            <a:r>
              <a:rPr b="0" i="0" lang="en-GB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IDE: VS Code | Browser: Chrome / Firefox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0" y="4892040"/>
            <a:ext cx="9144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ITM Skills University | B.Tech CSE 2025-29 | Case Study 88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9" name="Google Shape;1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37160"/>
            <a:ext cx="173736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/>
          <p:nvPr/>
        </p:nvSpPr>
        <p:spPr>
          <a:xfrm>
            <a:off x="2103120" y="137160"/>
            <a:ext cx="6400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256032" y="960120"/>
            <a:ext cx="2816400" cy="23775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9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" name="Google Shape;15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5880" y="10972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/>
          <p:nvPr/>
        </p:nvSpPr>
        <p:spPr>
          <a:xfrm>
            <a:off x="365760" y="1828800"/>
            <a:ext cx="2596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Responsive 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365760" y="2286000"/>
            <a:ext cx="259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Fully responsive across desktop, tablet, and mobile with hamburger menu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3218688" y="960120"/>
            <a:ext cx="2816400" cy="23775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9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8536" y="10972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/>
          <p:nvPr/>
        </p:nvSpPr>
        <p:spPr>
          <a:xfrm>
            <a:off x="3328416" y="1828800"/>
            <a:ext cx="2596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Interactivity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3328416" y="2286000"/>
            <a:ext cx="259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Real-time booking summary, form validation, pricing toggle &amp; session tracker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6181344" y="960120"/>
            <a:ext cx="2816400" cy="23775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9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51192" y="10972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/>
          <p:nvPr/>
        </p:nvSpPr>
        <p:spPr>
          <a:xfrm>
            <a:off x="6291072" y="1828800"/>
            <a:ext cx="2596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Dev Demonstrated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6291072" y="2286000"/>
            <a:ext cx="259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5 pages, CSS variables, JS ES6+, and semantic HTML in a cohesive 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256032" y="3474720"/>
            <a:ext cx="8631900" cy="12801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411480" y="3547872"/>
            <a:ext cx="83211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0" i="0" lang="en-GB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This case study demonstrates a complete front-end web application covering the full patient journey — therapist discovery, session booking, exercise guidance, progress tracking, and pricing — using HTML5, CSS3, and vanilla JavaScript in a cohesive, responsive multi-page platform.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0" y="4892040"/>
            <a:ext cx="9144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ITM Skills University | B.Tech CSE 2025-29 | Case Study 88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171" name="Google Shape;171;p20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